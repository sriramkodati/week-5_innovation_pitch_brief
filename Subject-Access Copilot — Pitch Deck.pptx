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39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This is a proposal for a mid-size regulated enterprise that already feels the pain of DSAR deadlines. 15 minutes: problem, cost, solution, why us, architecture, economics, risks,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Statutory clocks: GDPR Art. 12(3) one month plus up to two further months; CCPA/CPRA 45 days plus one 45-day extension. The hard part is not the deadline, it is locating and reconciling personal data across unstructured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case: 30 requests a month, 8 hours each, $70 per loaded hour. 30 x 12 x 8 x 70 = $201,600. These are assumptions, not client data. In the pilot we replace them with the client's real request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The 2.5 hours is a target to prove in the pilot, not a measured result. 5.5 hours x 30 x 12 x $70 = $138,600.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UC3 results on synthetic data, so say so. The point: detection and routing are already built and cheap. The copilot adds search, linking and a review workflow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boundary as UC3: use code where the answer is checkable, use a model only where judgment is needed. Every response is approved by a person and has an auditable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on one client the payback is about 40 months. It works when the build is shared across clients and volume is 30 or more requests a month. $85.7K headroom = $138.6K labor removed minus $52.9K run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trash competitors. Say the platforms handle intake and tracking well, and the copilot targets locating and reconciling data in unstructured files. Claims about vendor weaknesses are a hypothesis to test, not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these before the audience does. Entity linking at 56.1% is the biggest gap and the main reason a human approves every release. The linking metric may understate real quality, so measuring it on client data is a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decision, not interest. The pilot replaces every assumption in this deck with a measured number. Fill in the pilot budget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1620"/>
            <a:ext cx="10566400" cy="41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1620"/>
            <a:ext cx="10566400" cy="41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1B20"/>
              </a:gs>
              <a:gs pos="55000">
                <a:srgbClr val="182127"/>
              </a:gs>
              <a:gs pos="100000">
                <a:srgbClr val="17121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" y="1953419"/>
            <a:ext cx="609600" cy="5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12800" y="225821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DATAFACTZ · WEEK 5 INNOVATION PITCH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743299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Subject-Access Copilot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3744020"/>
            <a:ext cx="8502650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Answering data-subject access requests in hours of review, not weeks of searching.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46735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r>
              <a:rPr lang="en-US" sz="1300" dirty="0" err="1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Sriram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Kodati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 </a:t>
            </a: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Sriram.Kodati@datafactz.ai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 </a:t>
            </a: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10/14/2026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legal clock starts when a request arrives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795"/>
            <a:ext cx="5175250" cy="2045891"/>
          </a:xfrm>
          <a:prstGeom prst="roundRect">
            <a:avLst>
              <a:gd name="adj" fmla="val 6052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11970"/>
            <a:ext cx="48007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4AD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month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3150" y="2810470"/>
            <a:ext cx="48007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Art. 12(3)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3148211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within one month, extendable by up to two further months for complex requests.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1854795"/>
            <a:ext cx="5175250" cy="2045891"/>
          </a:xfrm>
          <a:prstGeom prst="roundRect">
            <a:avLst>
              <a:gd name="adj" fmla="val 6052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111970"/>
            <a:ext cx="48007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days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57950" y="2810470"/>
            <a:ext cx="48007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CCPA / CPRA §1798.130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7950" y="3148211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within 45 days, with one 45-day extension where reasonably necessary.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4211836"/>
            <a:ext cx="10560050" cy="1283891"/>
          </a:xfrm>
          <a:prstGeom prst="roundRect">
            <a:avLst>
              <a:gd name="adj" fmla="val 9645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4443611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deadline is easy. Finding the data is not.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3150" y="4768652"/>
            <a:ext cx="1034707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person's data sits in email, shared drives, PDFs, scans and chat exports. Someone searches by hand, redacts by hand, and the same name appears in five spellings.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8103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DataFactZ · Subject-Access Copilot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51381" y="6256040"/>
            <a:ext cx="39338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handling costs about $201,600 a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795"/>
            <a:ext cx="2482850" cy="1446411"/>
          </a:xfrm>
          <a:prstGeom prst="roundRect">
            <a:avLst>
              <a:gd name="adj" fmla="val 8561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6570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7750" y="2607270"/>
            <a:ext cx="207987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per 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8375" y="1854795"/>
            <a:ext cx="2482850" cy="1446411"/>
          </a:xfrm>
          <a:prstGeom prst="roundRect">
            <a:avLst>
              <a:gd name="adj" fmla="val 8561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0150" y="2086570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40150" y="2607270"/>
            <a:ext cx="207987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time per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0775" y="1854795"/>
            <a:ext cx="2482850" cy="1446411"/>
          </a:xfrm>
          <a:prstGeom prst="roundRect">
            <a:avLst>
              <a:gd name="adj" fmla="val 8561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550" y="2086570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32550" y="2607270"/>
            <a:ext cx="207987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cost per hour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93175" y="1854795"/>
            <a:ext cx="2482850" cy="1446411"/>
          </a:xfrm>
          <a:prstGeom prst="roundRect">
            <a:avLst>
              <a:gd name="adj" fmla="val 8561"/>
            </a:avLst>
          </a:prstGeom>
          <a:solidFill>
            <a:srgbClr val="1C262D"/>
          </a:solidFill>
          <a:ln w="6350">
            <a:solidFill>
              <a:srgbClr val="FC7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4950" y="2086570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$201.6K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24950" y="2607270"/>
            <a:ext cx="20798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year, 30 × 12 × 8 × $70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609181"/>
            <a:ext cx="98107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labor figure only. It leaves out fines, rework when a response misses a record, and the risk of a late reply. Every input is an assumption to confirm with the client's own request log.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56040"/>
            <a:ext cx="572535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Assumptions: base case from the Week 5 business case and cost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50290" y="6256040"/>
            <a:ext cx="3946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it, link it, hand a reviewer a draft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795"/>
            <a:ext cx="3380284" cy="1915120"/>
          </a:xfrm>
          <a:prstGeom prst="roundRect">
            <a:avLst>
              <a:gd name="adj" fmla="val 6466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1197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4AD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FIND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414191"/>
            <a:ext cx="29519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every 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2769791"/>
            <a:ext cx="29519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index over documents, scans and exports, built by the UC3 detection pipeline.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09" y="1854795"/>
            <a:ext cx="3380383" cy="1915120"/>
          </a:xfrm>
          <a:prstGeom prst="roundRect">
            <a:avLst>
              <a:gd name="adj" fmla="val 6466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111970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LINK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2984" y="2414191"/>
            <a:ext cx="2952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who is who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2984" y="2769791"/>
            <a:ext cx="29520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variants and records are linked to one person, with a confidence score for each link.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41" y="1854795"/>
            <a:ext cx="3380284" cy="1915120"/>
          </a:xfrm>
          <a:prstGeom prst="roundRect">
            <a:avLst>
              <a:gd name="adj" fmla="val 6466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11197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3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2916" y="2414191"/>
            <a:ext cx="29519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signs 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2916" y="2769791"/>
            <a:ext cx="29519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draft response with redactions proposed and evidence cited. A person approves every release.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081066"/>
            <a:ext cx="10560050" cy="1006971"/>
          </a:xfrm>
          <a:prstGeom prst="roundRect">
            <a:avLst>
              <a:gd name="adj" fmla="val 12297"/>
            </a:avLst>
          </a:prstGeom>
          <a:solidFill>
            <a:srgbClr val="1C262D"/>
          </a:solidFill>
          <a:ln w="6350">
            <a:solidFill>
              <a:srgbClr val="34B2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3150" y="4312841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8 hours down to 2.5 hours per request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3150" y="4625181"/>
            <a:ext cx="103470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removes 5.5 hours, about $138,600 a year at the base case. The copilot drafts. It never sends.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56040"/>
            <a:ext cx="28103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DataFactZ · Subject-Access Copilot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46321" y="6256040"/>
            <a:ext cx="39945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US, WHY NOW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already built the hard part in UC3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795"/>
            <a:ext cx="3380284" cy="2163366"/>
          </a:xfrm>
          <a:prstGeom prst="roundRect">
            <a:avLst>
              <a:gd name="adj" fmla="val 5724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1197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34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96.9%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3150" y="2721570"/>
            <a:ext cx="29519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recall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3046611"/>
            <a:ext cx="295191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1,713 of 1,767 planted items found on the UC3 synthetic corpus.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5809" y="1854795"/>
            <a:ext cx="3380383" cy="2163366"/>
          </a:xfrm>
          <a:prstGeom prst="roundRect">
            <a:avLst>
              <a:gd name="adj" fmla="val 5724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111970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4AD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~408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62984" y="2721570"/>
            <a:ext cx="29520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per document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2984" y="3046611"/>
            <a:ext cx="2952014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233,207 tokens over 572 documents, because cheap rules run first.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5741" y="1854795"/>
            <a:ext cx="3380284" cy="2163366"/>
          </a:xfrm>
          <a:prstGeom prst="roundRect">
            <a:avLst>
              <a:gd name="adj" fmla="val 5724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11197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252916" y="2721570"/>
            <a:ext cx="29519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Tiers of routing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2916" y="3046611"/>
            <a:ext cx="2951912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Rules, then a cheap model, then escalation to Claude only when unsure.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975" y="4329311"/>
            <a:ext cx="10560050" cy="1271191"/>
          </a:xfrm>
          <a:prstGeom prst="roundRect">
            <a:avLst>
              <a:gd name="adj" fmla="val 9741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3150" y="4561086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3150" y="4873427"/>
            <a:ext cx="1034707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rights laws keep widening, and request volumes rise with them. Cheap, auditable extraction makes a copilot affordable for mid-size teams.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56040"/>
            <a:ext cx="37719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on a synthetic corpus, not client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663" y="6256040"/>
            <a:ext cx="3906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deterministic pipeline, with agents only for judgment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5975" y="1829395"/>
            <a:ext cx="2005310" cy="567630"/>
          </a:xfrm>
          <a:prstGeom prst="roundRect">
            <a:avLst>
              <a:gd name="adj" fmla="val 1734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  <p:txBody>
          <a:bodyPr wrap="square" lIns="35930" tIns="139447" rIns="35930" bIns="114047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54635" y="1829395"/>
            <a:ext cx="2005409" cy="567630"/>
          </a:xfrm>
          <a:prstGeom prst="roundRect">
            <a:avLst>
              <a:gd name="adj" fmla="val 1734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  <p:txBody>
          <a:bodyPr wrap="square" lIns="35928" tIns="139447" rIns="35928" bIns="114047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93395" y="1829395"/>
            <a:ext cx="2005310" cy="567630"/>
          </a:xfrm>
          <a:prstGeom prst="roundRect">
            <a:avLst>
              <a:gd name="adj" fmla="val 1734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  <p:txBody>
          <a:bodyPr wrap="square" lIns="35930" tIns="139447" rIns="35930" bIns="114047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32055" y="1829395"/>
            <a:ext cx="2005310" cy="567630"/>
          </a:xfrm>
          <a:prstGeom prst="roundRect">
            <a:avLst>
              <a:gd name="adj" fmla="val 17340"/>
            </a:avLst>
          </a:prstGeom>
          <a:solidFill>
            <a:srgbClr val="1C262D"/>
          </a:solidFill>
          <a:ln w="6350">
            <a:solidFill>
              <a:srgbClr val="FC7900"/>
            </a:solidFill>
            <a:prstDash val="solid"/>
          </a:ln>
        </p:spPr>
        <p:txBody>
          <a:bodyPr wrap="square" lIns="35930" tIns="139447" rIns="35930" bIns="114047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70715" y="1829395"/>
            <a:ext cx="2005310" cy="567630"/>
          </a:xfrm>
          <a:prstGeom prst="roundRect">
            <a:avLst>
              <a:gd name="adj" fmla="val 17340"/>
            </a:avLst>
          </a:prstGeom>
          <a:solidFill>
            <a:srgbClr val="1C262D"/>
          </a:solidFill>
          <a:ln w="6350">
            <a:solidFill>
              <a:srgbClr val="34B27B"/>
            </a:solidFill>
            <a:prstDash val="solid"/>
          </a:ln>
        </p:spPr>
        <p:txBody>
          <a:bodyPr wrap="square" lIns="35930" tIns="139447" rIns="35930" bIns="114047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682776"/>
            <a:ext cx="3380284" cy="1515666"/>
          </a:xfrm>
          <a:prstGeom prst="roundRect">
            <a:avLst>
              <a:gd name="adj" fmla="val 817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" y="2914551"/>
            <a:ext cx="30042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Pipeline, no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7750" y="3252291"/>
            <a:ext cx="300423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 and checksum detectors, a cheap model, and escalation to Claude when confidence is 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5809" y="2682776"/>
            <a:ext cx="3380383" cy="1515666"/>
          </a:xfrm>
          <a:prstGeom prst="roundRect">
            <a:avLst>
              <a:gd name="adj" fmla="val 817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7584" y="2914551"/>
            <a:ext cx="30043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Agents, judgment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7584" y="3252291"/>
            <a:ext cx="3004338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Entity-resolution adjudication, exception handling and a QA audit of each draft.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5741" y="2682776"/>
            <a:ext cx="3380284" cy="1515666"/>
          </a:xfrm>
          <a:prstGeom prst="roundRect">
            <a:avLst>
              <a:gd name="adj" fmla="val 8170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7516" y="2914551"/>
            <a:ext cx="30042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7516" y="3252291"/>
            <a:ext cx="300423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and spend budgets, a human approval gate, and a run trace for every request.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2800" y="6256040"/>
            <a:ext cx="28103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DataFactZ · Subject-Access Copilot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49992" y="6256040"/>
            <a:ext cx="39504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cost is small; the build cost needs sharing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2520950" cy="1245791"/>
          </a:xfrm>
          <a:prstGeom prst="roundRect">
            <a:avLst>
              <a:gd name="adj" fmla="val 9939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035770"/>
            <a:ext cx="2171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34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2350" y="2442170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cost to index 500,000 documents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829395"/>
            <a:ext cx="2520950" cy="1245791"/>
          </a:xfrm>
          <a:prstGeom prst="roundRect">
            <a:avLst>
              <a:gd name="adj" fmla="val 9939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2050" y="2035770"/>
            <a:ext cx="2171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$52.9K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02050" y="24421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cost per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1829395"/>
            <a:ext cx="2520950" cy="1245791"/>
          </a:xfrm>
          <a:prstGeom prst="roundRect">
            <a:avLst>
              <a:gd name="adj" fmla="val 9939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0" y="2035770"/>
            <a:ext cx="2171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$85.7K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81750" y="2442170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headroom after run 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1829395"/>
            <a:ext cx="2520950" cy="1245791"/>
          </a:xfrm>
          <a:prstGeom prst="roundRect">
            <a:avLst>
              <a:gd name="adj" fmla="val 9939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450" y="2035770"/>
            <a:ext cx="2171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$285.7K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61450" y="24421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build cost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76025" y="3357761"/>
            <a:ext cx="0" cy="1562894"/>
          </a:xfrm>
          <a:prstGeom prst="line">
            <a:avLst/>
          </a:prstGeom>
          <a:noFill/>
          <a:ln w="6350">
            <a:solidFill>
              <a:srgbClr val="2A34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4917480"/>
            <a:ext cx="10566400" cy="0"/>
          </a:xfrm>
          <a:prstGeom prst="line">
            <a:avLst/>
          </a:prstGeom>
          <a:noFill/>
          <a:ln w="6350">
            <a:solidFill>
              <a:srgbClr val="2A343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25500" y="3370461"/>
          <a:ext cx="10547350" cy="1543844"/>
        </p:xfrm>
        <a:graphic>
          <a:graphicData uri="http://schemas.openxmlformats.org/drawingml/2006/table">
            <a:tbl>
              <a:tblPr/>
              <a:tblGrid>
                <a:gridCol w="5273675"/>
                <a:gridCol w="5273675"/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9AA7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9AA7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Payback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client carries the build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about 40 months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to 10 clients share the build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13.7 to 20.5 months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Break-even volume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about 12 requests per 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2800" y="6256040"/>
            <a:ext cx="49458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Week 5 cost model; all inputs are labeled assumptions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057533" y="6256040"/>
            <a:ext cx="38600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other ways to meet the deadline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826220"/>
            <a:ext cx="0" cy="2361902"/>
          </a:xfrm>
          <a:prstGeom prst="line">
            <a:avLst/>
          </a:prstGeom>
          <a:noFill/>
          <a:ln w="6350">
            <a:solidFill>
              <a:srgbClr val="2A3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184948"/>
            <a:ext cx="10566400" cy="0"/>
          </a:xfrm>
          <a:prstGeom prst="line">
            <a:avLst/>
          </a:prstGeom>
          <a:noFill/>
          <a:ln w="6350">
            <a:solidFill>
              <a:srgbClr val="2A343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25500" y="1838920"/>
          <a:ext cx="10547350" cy="2342852"/>
        </p:xfrm>
        <a:graphic>
          <a:graphicData uri="http://schemas.openxmlformats.org/drawingml/2006/table">
            <a:tbl>
              <a:tblPr/>
              <a:tblGrid>
                <a:gridCol w="2531364"/>
                <a:gridCol w="4007993"/>
                <a:gridCol w="4007993"/>
              </a:tblGrid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AA7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AA7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you get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AA7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it falls short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D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 nothing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spend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$201.6K of labor and deadline risk stay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577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Privacy platform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Workflow, intake, tracking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Weaker on unstructured files; needs a pilot to confirm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Build in-house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control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Slow, and the team starts from zero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577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C79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Subject-Access Copilot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Search, linking and drafts over unstructured data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4F5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Needs shared build cost to pay back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467523"/>
            <a:ext cx="981075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such as OneTrust, Securiti, DataGrail and Transcend can sit alongside the copilot. The copilot targets the search and review step they cover less well.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56040"/>
            <a:ext cx="295334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fit to be confirmed in the pilot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50191" y="6256040"/>
            <a:ext cx="39481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weak today, and how we contain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3380284" cy="1950045"/>
          </a:xfrm>
          <a:prstGeom prst="roundRect">
            <a:avLst>
              <a:gd name="adj" fmla="val 6350"/>
            </a:avLst>
          </a:prstGeom>
          <a:solidFill>
            <a:srgbClr val="1C262D"/>
          </a:solidFill>
          <a:ln w="6350">
            <a:solidFill>
              <a:srgbClr val="E34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6117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3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· ENTITY LINKING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350691"/>
            <a:ext cx="300423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56.1%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47750" y="2833291"/>
            <a:ext cx="300423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of 57 linked correctly in UC3. Mitigation: show confidence, and require human review of every link.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5809" y="1829395"/>
            <a:ext cx="3380383" cy="1950045"/>
          </a:xfrm>
          <a:prstGeom prst="roundRect">
            <a:avLst>
              <a:gd name="adj" fmla="val 6350"/>
            </a:avLst>
          </a:prstGeom>
          <a:solidFill>
            <a:srgbClr val="1C262D"/>
          </a:solidFill>
          <a:ln w="6350">
            <a:solidFill>
              <a:srgbClr val="F4AD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061170"/>
            <a:ext cx="300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4AD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· SCANNED FINANCIALS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7584" y="2350691"/>
            <a:ext cx="30043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37584" y="2833291"/>
            <a:ext cx="3004338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26 scanned financial accounts found. Mitigation: route scans to review, and test OCR in the pilot.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5741" y="1829395"/>
            <a:ext cx="3380284" cy="1950045"/>
          </a:xfrm>
          <a:prstGeom prst="roundRect">
            <a:avLst>
              <a:gd name="adj" fmla="val 6350"/>
            </a:avLst>
          </a:prstGeom>
          <a:solidFill>
            <a:srgbClr val="1C262D"/>
          </a:solidFill>
          <a:ln w="6350">
            <a:solidFill>
              <a:srgbClr val="F4AD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7516" y="206117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4AD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· SYNTHETIC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7516" y="2350691"/>
            <a:ext cx="300423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7516" y="2833291"/>
            <a:ext cx="300423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client documents tested so far. Mitigation: the pilot measures accuracy on the client's own data.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4062016"/>
            <a:ext cx="981075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copilot proposes and a person approves, so a weak link slows the reviewer. It does not leak data to a requester.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2800" y="6256040"/>
            <a:ext cx="231219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UC3 accuracy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49992" y="6256040"/>
            <a:ext cx="39504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an 8-week pilot on your own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2520950" cy="1687711"/>
          </a:xfrm>
          <a:prstGeom prst="roundRect">
            <a:avLst>
              <a:gd name="adj" fmla="val 7337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0357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31259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624931"/>
            <a:ext cx="21714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 the 8-hour baseline; target 2.5.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29395"/>
            <a:ext cx="2520950" cy="1687711"/>
          </a:xfrm>
          <a:prstGeom prst="roundRect">
            <a:avLst>
              <a:gd name="adj" fmla="val 7337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2050" y="20357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2050" y="231259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recall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2050" y="2624931"/>
            <a:ext cx="21714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a person's records found, versus a manual search.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29395"/>
            <a:ext cx="2520950" cy="1687711"/>
          </a:xfrm>
          <a:prstGeom prst="roundRect">
            <a:avLst>
              <a:gd name="adj" fmla="val 7337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1750" y="20357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1750" y="231259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1750" y="2624931"/>
            <a:ext cx="21714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links correct on real data, up from 56.1%.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29395"/>
            <a:ext cx="2520950" cy="1687711"/>
          </a:xfrm>
          <a:prstGeom prst="roundRect">
            <a:avLst>
              <a:gd name="adj" fmla="val 7337"/>
            </a:avLst>
          </a:prstGeom>
          <a:solidFill>
            <a:srgbClr val="1C262D"/>
          </a:solidFill>
          <a:ln w="6350">
            <a:solidFill>
              <a:srgbClr val="2A34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450" y="203577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C7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61450" y="231259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Deadlines met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61450" y="2624931"/>
            <a:ext cx="21714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pilot request answered inside its statutory window.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802856"/>
            <a:ext cx="10560050" cy="1271191"/>
          </a:xfrm>
          <a:prstGeom prst="roundRect">
            <a:avLst>
              <a:gd name="adj" fmla="val 9741"/>
            </a:avLst>
          </a:prstGeom>
          <a:solidFill>
            <a:srgbClr val="1C262D"/>
          </a:solidFill>
          <a:ln w="6350">
            <a:solidFill>
              <a:srgbClr val="FC7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3150" y="4034631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3150" y="4346972"/>
            <a:ext cx="1034707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sponsor, access to a sample of past requests and their source systems, and one reviewer who handles requests today. Pilot budget: [$____ to be set with the client].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56040"/>
            <a:ext cx="28103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DataFactZ · Subject-Access Copilot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91652" y="6256040"/>
            <a:ext cx="46505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1B20"/>
              </a:gs>
              <a:gs pos="55000">
                <a:srgbClr val="182127"/>
              </a:gs>
              <a:gs pos="100000">
                <a:srgbClr val="17121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" y="2268835"/>
            <a:ext cx="609600" cy="5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0"/>
          </a:gradFill>
          <a:ln/>
        </p:spPr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573635"/>
            <a:ext cx="10883392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000" b="1" i="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12800" y="3494385"/>
            <a:ext cx="85026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answers inside the legal clock, with a person approving every release and a trace behind every decision.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357985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r>
              <a:rPr lang="en-US" sz="1300" dirty="0" err="1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Sriram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Kodati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 </a:t>
            </a: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Sriram.Kodati@datafactz.ai</a:t>
            </a:r>
            <a:r>
              <a:rPr lang="en-US" sz="1300" dirty="0" smtClean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 </a:t>
            </a:r>
            <a:r>
              <a:rPr lang="en-US" sz="1300" dirty="0">
                <a:solidFill>
                  <a:srgbClr val="9A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DataFactZ AI Engineering Internship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22905" y="6256040"/>
            <a:ext cx="42755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bject-Access Copilot — Pitch Deck">
  <a:themeElements>
    <a:clrScheme name="Subject-Access Copilot — Pitch Deck">
      <a:dk1>
        <a:srgbClr val="141B20"/>
      </a:dk1>
      <a:lt1>
        <a:srgbClr val="F4F5F6"/>
      </a:lt1>
      <a:dk2>
        <a:srgbClr val="2A3135"/>
      </a:dk2>
      <a:lt2>
        <a:srgbClr val="BCBFC1"/>
      </a:lt2>
      <a:accent1>
        <a:srgbClr val="FC7900"/>
      </a:accent1>
      <a:accent2>
        <a:srgbClr val="F4AD0B"/>
      </a:accent2>
      <a:accent3>
        <a:srgbClr val="E3434A"/>
      </a:accent3>
      <a:accent4>
        <a:srgbClr val="34B27B"/>
      </a:accent4>
      <a:accent5>
        <a:srgbClr val="9AA7AE"/>
      </a:accent5>
      <a:accent6>
        <a:srgbClr val="6B767D"/>
      </a:accent6>
      <a:hlink>
        <a:srgbClr val="0563C1"/>
      </a:hlink>
      <a:folHlink>
        <a:srgbClr val="954F72"/>
      </a:folHlink>
    </a:clrScheme>
    <a:fontScheme name="Subject-Access Copilot — Pitch Dec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1430</Words>
  <Application>Microsoft Office PowerPoint</Application>
  <PresentationFormat>Custom</PresentationFormat>
  <Paragraphs>171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Subject-Access Copilot — Pitch Deck</vt:lpstr>
      <vt:lpstr>Subject-Access Copilot</vt:lpstr>
      <vt:lpstr>A legal clock starts when a request arrives</vt:lpstr>
      <vt:lpstr>Manual handling costs about $201,600 a year</vt:lpstr>
      <vt:lpstr>Find it, link it, hand a reviewer a draft</vt:lpstr>
      <vt:lpstr>We already built the hard part in UC3</vt:lpstr>
      <vt:lpstr>A deterministic pipeline, with agents only for judgment</vt:lpstr>
      <vt:lpstr>Model cost is small; the build cost needs sharing</vt:lpstr>
      <vt:lpstr>Three other ways to meet the deadline</vt:lpstr>
      <vt:lpstr>What is weak today, and how we contain it</vt:lpstr>
      <vt:lpstr>Approve an 8-week pilot on your own data</vt:lpstr>
      <vt:lpstr>Questions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Subject-Access Copilot — Pitch Deck</dc:title>
  <dc:creator>Krishnaveni Sidduri</dc:creator>
  <cp:lastModifiedBy>Krishnaveni Sidduri</cp:lastModifiedBy>
  <cp:revision>2</cp:revision>
  <dcterms:created xsi:type="dcterms:W3CDTF">2026-10-14T03:27:24Z</dcterms:created>
  <dcterms:modified xsi:type="dcterms:W3CDTF">2026-10-19T03:28:38Z</dcterms:modified>
</cp:coreProperties>
</file>